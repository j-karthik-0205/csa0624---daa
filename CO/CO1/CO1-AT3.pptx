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71" r:id="rId3"/>
    <p:sldId id="257" r:id="rId4"/>
    <p:sldId id="258" r:id="rId5"/>
    <p:sldId id="303" r:id="rId6"/>
    <p:sldId id="304" r:id="rId7"/>
    <p:sldId id="305" r:id="rId8"/>
    <p:sldId id="306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78" y="6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1DEB6-33A7-4DAB-961F-65530E987B37}" type="datetimeFigureOut">
              <a:rPr lang="en-IN" smtClean="0"/>
              <a:t>02-08-2026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58C10C-116E-4577-9A29-D9512F1EDA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10302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BA05DD-CDA9-46CD-9F81-A198C3FDD8AE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A739B-8695-4E60-A61C-DC0774101B24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58CCAB-986B-428C-8529-89C280C7FCBB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1C63BE-5073-429F-BB29-5DEAF07C2EE7}" type="datetime1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97633-1BEF-4C6E-9C28-5B4958E4F1D2}" type="datetime1">
              <a:rPr lang="en-US" smtClean="0"/>
              <a:t>8/2/2026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48B566-22CA-42E2-AAA5-1F32E19BF37A}" type="datetime1">
              <a:rPr lang="en-US" smtClean="0"/>
              <a:t>8/2/2026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445C0-08DF-44F9-8BAF-E9D58CA500B0}" type="datetime1">
              <a:rPr lang="en-US" smtClean="0"/>
              <a:t>8/2/2026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273AB3-8975-494E-92ED-C3D73DAB6D55}" type="datetime1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2E6216-F9D2-4498-8F44-BE68D34E5772}" type="datetime1">
              <a:rPr lang="en-US" smtClean="0"/>
              <a:t>8/2/2026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68CDA-9470-4382-ACE1-77A14E532B3A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6D78F3-4482-42EA-8734-0E035E6C788D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03FF6A-C461-4F39-854F-40B0BE9BBD71}" type="datetime1">
              <a:rPr lang="en-US" smtClean="0"/>
              <a:t>8/2/2026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CSA0329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96960" y="2143432"/>
            <a:ext cx="11134964" cy="1722461"/>
          </a:xfrm>
        </p:spPr>
        <p:txBody>
          <a:bodyPr>
            <a:normAutofit/>
          </a:bodyPr>
          <a:lstStyle/>
          <a:p>
            <a:r>
              <a:rPr lang="en-IN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CSA0624– Design And Analysis Of Algorithms</a:t>
            </a:r>
            <a:br>
              <a:rPr lang="en-IN" sz="36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Algorithm Comparison for Large Data Processing</a:t>
            </a:r>
            <a:endParaRPr sz="3600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608439" y="4481858"/>
            <a:ext cx="4611329" cy="1342884"/>
          </a:xfrm>
        </p:spPr>
        <p:txBody>
          <a:bodyPr>
            <a:noAutofit/>
          </a:bodyPr>
          <a:lstStyle/>
          <a:p>
            <a:r>
              <a:rPr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  <a:endParaRPr lang="en-IN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 Karthik </a:t>
            </a:r>
          </a:p>
          <a:p>
            <a:r>
              <a:rPr lang="en-IN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192472136</a:t>
            </a:r>
          </a:p>
        </p:txBody>
      </p:sp>
      <p:pic>
        <p:nvPicPr>
          <p:cNvPr id="5" name="Picture 4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6" name="Picture 5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220A5-BECB-B3C1-4CAE-65859D8C4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3EEC49-5C00-6723-33EB-1322D8B637D3}"/>
              </a:ext>
            </a:extLst>
          </p:cNvPr>
          <p:cNvSpPr txBox="1"/>
          <p:nvPr/>
        </p:nvSpPr>
        <p:spPr>
          <a:xfrm>
            <a:off x="1545801" y="255943"/>
            <a:ext cx="906035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SIMATS ENGINEERING</a:t>
            </a:r>
          </a:p>
          <a:p>
            <a:pPr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Saveetha Institute of Medical and Technical Sciences</a:t>
            </a:r>
          </a:p>
          <a:p>
            <a:pPr algn="ctr"/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Chennai-602105.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F238F9-559B-8A2D-F4CA-D64448A13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89166-32F2-45C2-701F-423E94137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FCB9D0B-94EB-CBC3-8772-E3A531B6DCC5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25CC618-CEDC-1B5D-AB3B-D1F2F24C1230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6" descr="How to Build an Online Food Ordering System [Complete Guide]">
            <a:extLst>
              <a:ext uri="{FF2B5EF4-FFF2-40B4-BE49-F238E27FC236}">
                <a16:creationId xmlns:a16="http://schemas.microsoft.com/office/drawing/2014/main" id="{6C160007-CDB9-4816-8F76-75045356F4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92414" y="2133600"/>
            <a:ext cx="5034116" cy="321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8" descr="How to Build an Online Food Ordering System [Complete Guide]">
            <a:extLst>
              <a:ext uri="{FF2B5EF4-FFF2-40B4-BE49-F238E27FC236}">
                <a16:creationId xmlns:a16="http://schemas.microsoft.com/office/drawing/2014/main" id="{4FD3FBEA-03AE-A1ED-86AE-3F54E45C950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2" descr="How to Build an Online Food Ordering System [Complete Guide]">
            <a:extLst>
              <a:ext uri="{FF2B5EF4-FFF2-40B4-BE49-F238E27FC236}">
                <a16:creationId xmlns:a16="http://schemas.microsoft.com/office/drawing/2014/main" id="{9CCB5272-CD80-0674-355E-2FCD8F58FE8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ED25C1-5B34-3F85-8F24-B124E0BB9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CD4680D9-9E32-6BA7-CD47-74F6FFB76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24910" y="2050518"/>
            <a:ext cx="10481188" cy="3366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algorithm is a step-by-step procedure used to solve a problem or perform a task.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algorithms can solve the same problem, but their efficiency may differ.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size of the dataset increases, choosing an efficient algorithm becomes essential.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complexity measures how an algorithm's running time grows with the input size.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presentation compares O(n log n) and O(n²) algorithms to determine which is more suitable for large data processing.</a:t>
            </a:r>
          </a:p>
          <a:p>
            <a:pPr lvl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 Input:</a:t>
            </a:r>
          </a:p>
          <a:p>
            <a:pPr lvl="0"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[45, 12, 89, 23, 67, 10, 34, 78, 56, 91]</a:t>
            </a:r>
          </a:p>
        </p:txBody>
      </p:sp>
    </p:spTree>
    <p:extLst>
      <p:ext uri="{BB962C8B-B14F-4D97-AF65-F5344CB8AC3E}">
        <p14:creationId xmlns:p14="http://schemas.microsoft.com/office/powerpoint/2010/main" val="32696909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bjectives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AutoShape 6" descr="How to Build an Online Food Ordering System [Complete Guide]">
            <a:extLst>
              <a:ext uri="{FF2B5EF4-FFF2-40B4-BE49-F238E27FC236}">
                <a16:creationId xmlns:a16="http://schemas.microsoft.com/office/drawing/2014/main" id="{BDF784BE-6998-B209-462D-25744F23692A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892414" y="2133600"/>
            <a:ext cx="5034116" cy="3215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" name="AutoShape 8" descr="How to Build an Online Food Ordering System [Complete Guide]">
            <a:extLst>
              <a:ext uri="{FF2B5EF4-FFF2-40B4-BE49-F238E27FC236}">
                <a16:creationId xmlns:a16="http://schemas.microsoft.com/office/drawing/2014/main" id="{1BC296DF-F9BE-AF74-8624-614869DAD9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" name="AutoShape 2" descr="How to Build an Online Food Ordering System [Complete Guide]">
            <a:extLst>
              <a:ext uri="{FF2B5EF4-FFF2-40B4-BE49-F238E27FC236}">
                <a16:creationId xmlns:a16="http://schemas.microsoft.com/office/drawing/2014/main" id="{F057B6E7-6D2C-8C2B-BD2C-4AD620234A1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DB92A7-B714-D8C1-43D8-7475F9D8F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D93DB111-0699-B8DC-1520-38BE8EC79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22323" y="2121317"/>
            <a:ext cx="9114503" cy="21200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compare the performance of O(n log n) and O(n²) algorithms.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analyze how both algorithms behave with large datasets.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evaluate their efficiency using time complexity.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illustrate the performance differences using tables and graphs.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identify and justify the most suitable algorithm for large data processing.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 and Constraints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5" name="Picture 4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D9FA3-3F53-26EB-BD86-DF9785B80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0B24D62-69A8-36D9-282C-A53BBF5274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7356" y="1870426"/>
            <a:ext cx="9389805" cy="3782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Assumptions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algorithms process the same input dataset.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hardware and software environment is used.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data is processed under identical conditions.</a:t>
            </a:r>
          </a:p>
          <a:p>
            <a:pPr marL="285750" lvl="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is evaluated based on time complexity.</a:t>
            </a:r>
          </a:p>
          <a:p>
            <a:pPr algn="just"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Constraints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input sizes (100, 1,000, 10,000, 100,000 elements).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memory and processing resources.</a:t>
            </a:r>
          </a:p>
          <a:p>
            <a:pPr marL="285750" lvl="0" indent="-28575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 increases as the dataset grows.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B3A84E-D6A1-1601-D1D3-82F2F69D46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 Comparison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9C24D3-21F0-646E-8EA1-7CCC13B22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B0F1DB-EC90-930F-6D6A-868CD2E81F8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2B4199F-183F-B967-A037-F2FDC4ED03B2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6ECE17D-748A-9C84-AFFF-44025BFAA2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9482758"/>
              </p:ext>
            </p:extLst>
          </p:nvPr>
        </p:nvGraphicFramePr>
        <p:xfrm>
          <a:off x="806245" y="2067810"/>
          <a:ext cx="10618839" cy="2194560"/>
        </p:xfrm>
        <a:graphic>
          <a:graphicData uri="http://schemas.openxmlformats.org/drawingml/2006/table">
            <a:tbl>
              <a:tblPr/>
              <a:tblGrid>
                <a:gridCol w="3539613">
                  <a:extLst>
                    <a:ext uri="{9D8B030D-6E8A-4147-A177-3AD203B41FA5}">
                      <a16:colId xmlns:a16="http://schemas.microsoft.com/office/drawing/2014/main" val="2631265682"/>
                    </a:ext>
                  </a:extLst>
                </a:gridCol>
                <a:gridCol w="3539613">
                  <a:extLst>
                    <a:ext uri="{9D8B030D-6E8A-4147-A177-3AD203B41FA5}">
                      <a16:colId xmlns:a16="http://schemas.microsoft.com/office/drawing/2014/main" val="3823041779"/>
                    </a:ext>
                  </a:extLst>
                </a:gridCol>
                <a:gridCol w="3539613">
                  <a:extLst>
                    <a:ext uri="{9D8B030D-6E8A-4147-A177-3AD203B41FA5}">
                      <a16:colId xmlns:a16="http://schemas.microsoft.com/office/drawing/2014/main" val="14690871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O(n log n)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O(n²)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0669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Example Algorithm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Merge Sort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Bubble Sort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5933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Time Complexity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 log 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O(n²)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3056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Growth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Slow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Fast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65103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Performance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Efficient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Inefficient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0877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Suitable For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Large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Small datasets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577379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36F7DC-46CB-00C0-FAD9-09843B6035CE}"/>
              </a:ext>
            </a:extLst>
          </p:cNvPr>
          <p:cNvSpPr txBox="1"/>
          <p:nvPr/>
        </p:nvSpPr>
        <p:spPr>
          <a:xfrm>
            <a:off x="806245" y="4532689"/>
            <a:ext cx="6096000" cy="1327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Observation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O(n log n) performs efficiently even as data size increases.</a:t>
            </a:r>
          </a:p>
          <a:p>
            <a:pPr marL="0" marR="0" lvl="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O(n²) becomes significantly slower for large datasets</a:t>
            </a:r>
          </a:p>
        </p:txBody>
      </p:sp>
    </p:spTree>
    <p:extLst>
      <p:ext uri="{BB962C8B-B14F-4D97-AF65-F5344CB8AC3E}">
        <p14:creationId xmlns:p14="http://schemas.microsoft.com/office/powerpoint/2010/main" val="1019792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90D7-94E4-1921-443D-FB5A33FBF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Analysis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Content Placeholder 8">
            <a:extLst>
              <a:ext uri="{FF2B5EF4-FFF2-40B4-BE49-F238E27FC236}">
                <a16:creationId xmlns:a16="http://schemas.microsoft.com/office/drawing/2014/main" id="{0B665948-EDE3-73A5-6CE8-5D75B8F0EE1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0701268"/>
              </p:ext>
            </p:extLst>
          </p:nvPr>
        </p:nvGraphicFramePr>
        <p:xfrm>
          <a:off x="2212258" y="2116631"/>
          <a:ext cx="8121445" cy="1828800"/>
        </p:xfrm>
        <a:graphic>
          <a:graphicData uri="http://schemas.openxmlformats.org/drawingml/2006/table">
            <a:tbl>
              <a:tblPr/>
              <a:tblGrid>
                <a:gridCol w="2772697">
                  <a:extLst>
                    <a:ext uri="{9D8B030D-6E8A-4147-A177-3AD203B41FA5}">
                      <a16:colId xmlns:a16="http://schemas.microsoft.com/office/drawing/2014/main" val="814712046"/>
                    </a:ext>
                  </a:extLst>
                </a:gridCol>
                <a:gridCol w="2556387">
                  <a:extLst>
                    <a:ext uri="{9D8B030D-6E8A-4147-A177-3AD203B41FA5}">
                      <a16:colId xmlns:a16="http://schemas.microsoft.com/office/drawing/2014/main" val="387235339"/>
                    </a:ext>
                  </a:extLst>
                </a:gridCol>
                <a:gridCol w="2792361">
                  <a:extLst>
                    <a:ext uri="{9D8B030D-6E8A-4147-A177-3AD203B41FA5}">
                      <a16:colId xmlns:a16="http://schemas.microsoft.com/office/drawing/2014/main" val="31322260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Input Size (n)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O(n log n)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b="1" dirty="0"/>
                        <a:t>O(n²)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792759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664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15164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9,966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1,000,000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1299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132,877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100,000,000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87832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/>
                        <a:t>100,000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1,660,964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buNone/>
                      </a:pPr>
                      <a:r>
                        <a:rPr lang="en-IN" dirty="0"/>
                        <a:t>10,000,000,000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50276677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B6EBB3-F617-F11E-77F4-EDB40EC13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0AC9DF6-AFCC-B6A3-DB9C-178A6550D66F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5EF2F9F-667B-254D-0512-733B560D9C6A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7C5B524-8C0A-6A03-17AA-3859F8F64EC7}"/>
              </a:ext>
            </a:extLst>
          </p:cNvPr>
          <p:cNvSpPr txBox="1"/>
          <p:nvPr/>
        </p:nvSpPr>
        <p:spPr>
          <a:xfrm>
            <a:off x="1219878" y="3945431"/>
            <a:ext cx="6096000" cy="298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just">
              <a:lnSpc>
                <a:spcPct val="150000"/>
              </a:lnSpc>
              <a:spcBef>
                <a:spcPts val="1200"/>
              </a:spcBef>
              <a:spcAft>
                <a:spcPts val="300"/>
              </a:spcAft>
              <a:buNone/>
            </a:pPr>
            <a:r>
              <a:rPr lang="en-IN" b="1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Analysis</a:t>
            </a:r>
          </a:p>
          <a:p>
            <a:pPr marL="285750" marR="0" lvl="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O(n log n) grows gradually as the input size increases.</a:t>
            </a:r>
          </a:p>
          <a:p>
            <a:pPr marL="285750" marR="0" lvl="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O(n²) grows very rapidly and requires significantly more operations.</a:t>
            </a:r>
          </a:p>
          <a:p>
            <a:pPr marL="285750" marR="0" lvl="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b="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O(n log n) is faster and more scalable for large datasets.</a:t>
            </a:r>
          </a:p>
          <a:p>
            <a:pPr algn="just">
              <a:lnSpc>
                <a:spcPct val="150000"/>
              </a:lnSpc>
              <a:buNone/>
            </a:pPr>
            <a:br>
              <a:rPr lang="en-IN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36913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305197-B16A-45B0-1FBB-C793A2466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1CD2FE5-597B-B808-5FAB-C2D9BA07E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0D834C-A554-0CD1-7281-3A51F8CA30F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DA9F74-40CB-9FFA-2471-3E01029658D6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Content Placeholder 13">
            <a:extLst>
              <a:ext uri="{FF2B5EF4-FFF2-40B4-BE49-F238E27FC236}">
                <a16:creationId xmlns:a16="http://schemas.microsoft.com/office/drawing/2014/main" id="{EB9E14B1-4035-03F6-0274-59B93EEC41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701528" y="1600200"/>
            <a:ext cx="7025276" cy="47561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115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5EA4F-5F2D-8552-6202-28D766613E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2FF0F3-088C-CCAB-6B61-ED4385644F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6181" y="2458064"/>
            <a:ext cx="9999406" cy="2316725"/>
          </a:xfrm>
        </p:spPr>
        <p:txBody>
          <a:bodyPr/>
          <a:lstStyle/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 log n) algorithms are more efficient for processing large datasets.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O(n²) algorithms are suitable only for small input sizes.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comparison shows a significant performance difference as data size increases.</a:t>
            </a:r>
          </a:p>
          <a:p>
            <a:pPr lvl="0" algn="just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Therefore, O(n log n) is the preferred algorithm for large-scale data processing.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8FC307-6D56-E827-9E9A-5393468521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861B20-6C48-CFB8-3B39-1D066EC33118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7352" y="191626"/>
            <a:ext cx="1135117" cy="1342884"/>
          </a:xfrm>
          <a:prstGeom prst="rect">
            <a:avLst/>
          </a:prstGeom>
          <a:noFill/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85002FC-C371-ECDF-BF2A-0A6203673FC9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14231" y="191626"/>
            <a:ext cx="1520114" cy="134288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366787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24162</TotalTime>
  <Words>477</Words>
  <Application>Microsoft Office PowerPoint</Application>
  <PresentationFormat>Widescreen</PresentationFormat>
  <Paragraphs>88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4" baseType="lpstr">
      <vt:lpstr>Aptos</vt:lpstr>
      <vt:lpstr>Arial</vt:lpstr>
      <vt:lpstr>Calibri</vt:lpstr>
      <vt:lpstr>Times New Roman</vt:lpstr>
      <vt:lpstr>Wingdings</vt:lpstr>
      <vt:lpstr>Office Theme</vt:lpstr>
      <vt:lpstr>CSA0624– Design And Analysis Of Algorithms Algorithm Comparison for Large Data Processing</vt:lpstr>
      <vt:lpstr>Introduction</vt:lpstr>
      <vt:lpstr>Objectives</vt:lpstr>
      <vt:lpstr>Assumptions and Constraints</vt:lpstr>
      <vt:lpstr>Algorithm Comparison</vt:lpstr>
      <vt:lpstr>Performance Analysis</vt:lpstr>
      <vt:lpstr>System Architecture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Title</dc:title>
  <dc:subject/>
  <dc:creator>sankar</dc:creator>
  <cp:keywords/>
  <dc:description>generated using python-pptx</dc:description>
  <cp:lastModifiedBy>n lahari</cp:lastModifiedBy>
  <cp:revision>34</cp:revision>
  <dcterms:created xsi:type="dcterms:W3CDTF">2013-01-27T09:14:16Z</dcterms:created>
  <dcterms:modified xsi:type="dcterms:W3CDTF">2026-08-02T08:30:49Z</dcterms:modified>
  <cp:category/>
</cp:coreProperties>
</file>